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566b18b001474e" /><Relationship Type="http://schemas.openxmlformats.org/officeDocument/2006/relationships/extended-properties" Target="/docProps/app.xml" Id="Rcc440390d4aa42bf" /><Relationship Type="http://schemas.openxmlformats.org/officeDocument/2006/relationships/officeDocument" Target="/ppt/presentation.xml" Id="R4e40e91ee77f40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d1ac8b0f63495e"/>
  </p:sldMasterIdLst>
  <p:notesMasterIdLst>
    <p:notesMasterId xmlns:r="http://schemas.openxmlformats.org/officeDocument/2006/relationships" r:id="Rd67183305469498d"/>
  </p:notesMasterIdLst>
  <p:sldIdLst>
    <p:sldId xmlns:r="http://schemas.openxmlformats.org/officeDocument/2006/relationships" id="256" r:id="Rccbf2145c8c64580"/>
    <p:sldId xmlns:r="http://schemas.openxmlformats.org/officeDocument/2006/relationships" id="257" r:id="R4a6d97bcc9c74ba9"/>
    <p:sldId xmlns:r="http://schemas.openxmlformats.org/officeDocument/2006/relationships" id="258" r:id="Rc132b63cae0846b3"/>
    <p:sldId xmlns:r="http://schemas.openxmlformats.org/officeDocument/2006/relationships" id="259" r:id="R5bc90bd913d0493d"/>
    <p:sldId xmlns:r="http://schemas.openxmlformats.org/officeDocument/2006/relationships" id="260" r:id="Rf216c60b6d254c6e"/>
    <p:sldId xmlns:r="http://schemas.openxmlformats.org/officeDocument/2006/relationships" id="261" r:id="R96bdd8eb61c14628"/>
    <p:sldId xmlns:r="http://schemas.openxmlformats.org/officeDocument/2006/relationships" id="262" r:id="Rcb6a9c7d851a4293"/>
    <p:sldId xmlns:r="http://schemas.openxmlformats.org/officeDocument/2006/relationships" id="263" r:id="Rcf805c515f944c63"/>
    <p:sldId xmlns:r="http://schemas.openxmlformats.org/officeDocument/2006/relationships" id="264" r:id="R0c3cb32356e243a6"/>
    <p:sldId xmlns:r="http://schemas.openxmlformats.org/officeDocument/2006/relationships" id="265" r:id="R899932b915314af2"/>
    <p:sldId xmlns:r="http://schemas.openxmlformats.org/officeDocument/2006/relationships" id="266" r:id="R36ccbdcbd13e46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ce0f5926cf46c3" /><Relationship Type="http://schemas.openxmlformats.org/officeDocument/2006/relationships/slideMaster" Target="/ppt/slideMasters/slideMaster1.xml" Id="R74d1ac8b0f63495e" /><Relationship Type="http://schemas.openxmlformats.org/officeDocument/2006/relationships/notesMaster" Target="/ppt/notesMasters/notesMaster1.xml" Id="Rd67183305469498d" /><Relationship Type="http://schemas.openxmlformats.org/officeDocument/2006/relationships/presProps" Target="/ppt/presProps.xml" Id="Raa274b3035a24b4b" /><Relationship Type="http://schemas.openxmlformats.org/officeDocument/2006/relationships/tableStyles" Target="/ppt/tableStyles.xml" Id="R1df3a7198d0b4d9c" /><Relationship Type="http://schemas.openxmlformats.org/officeDocument/2006/relationships/slide" Target="/ppt/slides/slide1.xml" Id="Rccbf2145c8c64580" /><Relationship Type="http://schemas.openxmlformats.org/officeDocument/2006/relationships/slide" Target="/ppt/slides/slide2.xml" Id="R4a6d97bcc9c74ba9" /><Relationship Type="http://schemas.openxmlformats.org/officeDocument/2006/relationships/slide" Target="/ppt/slides/slide3.xml" Id="Rc132b63cae0846b3" /><Relationship Type="http://schemas.openxmlformats.org/officeDocument/2006/relationships/slide" Target="/ppt/slides/slide4.xml" Id="R5bc90bd913d0493d" /><Relationship Type="http://schemas.openxmlformats.org/officeDocument/2006/relationships/slide" Target="/ppt/slides/slide5.xml" Id="Rf216c60b6d254c6e" /><Relationship Type="http://schemas.openxmlformats.org/officeDocument/2006/relationships/slide" Target="/ppt/slides/slide6.xml" Id="R96bdd8eb61c14628" /><Relationship Type="http://schemas.openxmlformats.org/officeDocument/2006/relationships/slide" Target="/ppt/slides/slide7.xml" Id="Rcb6a9c7d851a4293" /><Relationship Type="http://schemas.openxmlformats.org/officeDocument/2006/relationships/slide" Target="/ppt/slides/slide8.xml" Id="Rcf805c515f944c63" /><Relationship Type="http://schemas.openxmlformats.org/officeDocument/2006/relationships/slide" Target="/ppt/slides/slide9.xml" Id="R0c3cb32356e243a6" /><Relationship Type="http://schemas.openxmlformats.org/officeDocument/2006/relationships/slide" Target="/ppt/slides/slide10.xml" Id="R899932b915314af2" /><Relationship Type="http://schemas.openxmlformats.org/officeDocument/2006/relationships/slide" Target="/ppt/slides/slide11.xml" Id="R36ccbdcbd13e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01bedc70e142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4dcf52b67a45b9" /><Relationship Type="http://schemas.openxmlformats.org/officeDocument/2006/relationships/notesMaster" Target="/ppt/notesMasters/notesMaster1.xml" Id="R1e8b0bdc20ed49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e4a57fb0484054" /><Relationship Type="http://schemas.openxmlformats.org/officeDocument/2006/relationships/notesMaster" Target="/ppt/notesMasters/notesMaster1.xml" Id="Ra4a015cbfb3344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141f40164c4712" /><Relationship Type="http://schemas.openxmlformats.org/officeDocument/2006/relationships/notesMaster" Target="/ppt/notesMasters/notesMaster1.xml" Id="R86655f43bc284e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619732ed7e4ee7" /><Relationship Type="http://schemas.openxmlformats.org/officeDocument/2006/relationships/notesMaster" Target="/ppt/notesMasters/notesMaster1.xml" Id="R03a632c230d44d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19b6bf822f4e3f" /><Relationship Type="http://schemas.openxmlformats.org/officeDocument/2006/relationships/notesMaster" Target="/ppt/notesMasters/notesMaster1.xml" Id="Refa8d82f9dd847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61cf33c31d4ec5" /><Relationship Type="http://schemas.openxmlformats.org/officeDocument/2006/relationships/notesMaster" Target="/ppt/notesMasters/notesMaster1.xml" Id="R761cd106533344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d7d20b2de242ba" /><Relationship Type="http://schemas.openxmlformats.org/officeDocument/2006/relationships/notesMaster" Target="/ppt/notesMasters/notesMaster1.xml" Id="Rc1fe9a5401d74f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d7814b2b4e4466" /><Relationship Type="http://schemas.openxmlformats.org/officeDocument/2006/relationships/notesMaster" Target="/ppt/notesMasters/notesMaster1.xml" Id="R3c80c2b994504d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0be4d33ee24a7d" /><Relationship Type="http://schemas.openxmlformats.org/officeDocument/2006/relationships/notesMaster" Target="/ppt/notesMasters/notesMaster1.xml" Id="R46c54c6447794c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60a3988b574878" /><Relationship Type="http://schemas.openxmlformats.org/officeDocument/2006/relationships/notesMaster" Target="/ppt/notesMasters/notesMaster1.xml" Id="Re26af5c50ba74e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39d3cb24e64d3c" /><Relationship Type="http://schemas.openxmlformats.org/officeDocument/2006/relationships/notesMaster" Target="/ppt/notesMasters/notesMaster1.xml" Id="R62ec31d05edc4e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2026-01-01 至 2026-06-30</a:t>
            </a:r>
          </a:p>
          <a:p xmlns:a="http://schemas.openxmlformats.org/drawingml/2006/main">
            <a:r>
              <a:t>模拟案例。人物、项目和全部业务数据均为虚构，用于检验成果归因、冲突处理和证据追溯。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先说明个人负责的部分，再介绍团队交付。项目状态不等同于个人绩效等级。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F02  02_一月周报.md  L2  版本0762b317</a:t>
            </a:r>
          </a:p>
          <a:p xmlns:a="http://schemas.openxmlformats.org/drawingml/2006/main">
            <a:r>
              <a:t>F02  03_二月周报.md  L2  版本a605d9d9</a:t>
            </a:r>
          </a:p>
          <a:p xmlns:a="http://schemas.openxmlformats.org/drawingml/2006/main">
            <a:r>
              <a:t>F04  03_二月周报.md  L3  版本a605d9d9</a:t>
            </a:r>
          </a:p>
          <a:p xmlns:a="http://schemas.openxmlformats.org/drawingml/2006/main">
            <a:r>
              <a:t>F05  04_三月上线复盘.md  L2  版本b09935a7</a:t>
            </a:r>
          </a:p>
          <a:p xmlns:a="http://schemas.openxmlformats.org/drawingml/2006/main">
            <a:r>
              <a:t>F06  04_三月上线复盘.md  L3  版本b09935a7</a:t>
            </a:r>
          </a:p>
          <a:p xmlns:a="http://schemas.openxmlformats.org/drawingml/2006/main">
            <a:r>
              <a:t>F08  05_四月治理记录.md  L2  版本ddcc7f81</a:t>
            </a:r>
          </a:p>
          <a:p xmlns:a="http://schemas.openxmlformats.org/drawingml/2006/main">
            <a:r>
              <a:t>F09  05_四月治理记录.md  L3  版本ddcc7f81</a:t>
            </a:r>
          </a:p>
          <a:p xmlns:a="http://schemas.openxmlformats.org/drawingml/2006/main">
            <a:r>
              <a:t>F10  06_五月周报.md  L3  版本4c71b260</a:t>
            </a:r>
          </a:p>
          <a:p xmlns:a="http://schemas.openxmlformats.org/drawingml/2006/main">
            <a:r>
              <a:t>F11  06_五月周报.md  L2  版本4c71b260</a:t>
            </a:r>
          </a:p>
          <a:p xmlns:a="http://schemas.openxmlformats.org/drawingml/2006/main">
            <a:r>
              <a:t>F12  07_六月周报.md  L2  版本0a4b35a4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清楚区分本人工作和团队成果。数据不足的事项保留待确认，不补写百分比。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本人工作：我负责需求梳理和业务验收，周岚负责项目整体推进；我完成需求说明与异常流程清单；我组织业务验收用例评审并完成问题归类；我完成业务验收并整理上线问题清单。</a:t>
            </a:r>
          </a:p>
          <a:p xmlns:a="http://schemas.openxmlformats.org/drawingml/2006/main">
            <a:r>
              <a:t>团队结果：团队完成售后工单改版上线。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F01  01_年初目标.md  L2  版本fd531346</a:t>
            </a:r>
          </a:p>
          <a:p xmlns:a="http://schemas.openxmlformats.org/drawingml/2006/main">
            <a:r>
              <a:t>F02  02_一月周报.md  L2  版本0762b317</a:t>
            </a:r>
          </a:p>
          <a:p xmlns:a="http://schemas.openxmlformats.org/drawingml/2006/main">
            <a:r>
              <a:t>F02  03_二月周报.md  L2  版本a605d9d9</a:t>
            </a:r>
          </a:p>
          <a:p xmlns:a="http://schemas.openxmlformats.org/drawingml/2006/main">
            <a:r>
              <a:t>F04  03_二月周报.md  L3  版本a605d9d9</a:t>
            </a:r>
          </a:p>
          <a:p xmlns:a="http://schemas.openxmlformats.org/drawingml/2006/main">
            <a:r>
              <a:t>F06  04_三月上线复盘.md  L3  版本b09935a7</a:t>
            </a:r>
          </a:p>
          <a:p xmlns:a="http://schemas.openxmlformats.org/drawingml/2006/main">
            <a:r>
              <a:t>F05  04_三月上线复盘.md  L2  版本b09935a7</a:t>
            </a:r>
          </a:p>
          <a:p xmlns:a="http://schemas.openxmlformats.org/drawingml/2006/main">
            <a:r>
              <a:t>M01  02_一月周报.md  L3  版本0762b317</a:t>
            </a:r>
          </a:p>
          <a:p xmlns:a="http://schemas.openxmlformats.org/drawingml/2006/main">
            <a:r>
              <a:t>M03  12_工单指标导出.csv  R3  版本4a171ff3</a:t>
            </a:r>
          </a:p>
          <a:p xmlns:a="http://schemas.openxmlformats.org/drawingml/2006/main">
            <a:r>
              <a:t>M04  04_三月上线复盘.md  L4  版本b09935a7</a:t>
            </a:r>
          </a:p>
          <a:p xmlns:a="http://schemas.openxmlformats.org/drawingml/2006/main">
            <a:r>
              <a:t>D01  09_指标负责人确认.md  L2  版本09b72263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这是同一统计口径的前后变化，不将团队指标独立归因给个人，也不以试点样本替代全量样本。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平均处理时长由40分钟变为25分钟，下降37.5%。口径为全量已结售后工单。</a:t>
            </a:r>
          </a:p>
          <a:p xmlns:a="http://schemas.openxmlformats.org/drawingml/2006/main">
            <a:r>
              <a:t>基线周期 2026-01-01至2026-01-31</a:t>
            </a:r>
          </a:p>
          <a:p xmlns:a="http://schemas.openxmlformats.org/drawingml/2006/main">
            <a:r>
              <a:t>结果周期 2026-04-01至2026-06-30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M01  02_一月周报.md  L3  版本0762b317</a:t>
            </a:r>
          </a:p>
          <a:p xmlns:a="http://schemas.openxmlformats.org/drawingml/2006/main">
            <a:r>
              <a:t>M03  12_工单指标导出.csv  R3  版本4a171ff3</a:t>
            </a:r>
          </a:p>
          <a:p xmlns:a="http://schemas.openxmlformats.org/drawingml/2006/main">
            <a:r>
              <a:t>D01  09_指标负责人确认.md  L2  版本09b72263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清楚区分本人工作和团队成果。数据不足的事项保留待确认，不补写百分比。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本人工作：我完成分类方案与审核规范，组织试点部门评审；我完成试点反馈归类并输出维护责任清单。</a:t>
            </a:r>
          </a:p>
          <a:p xmlns:a="http://schemas.openxmlformats.org/drawingml/2006/main">
            <a:r>
              <a:t>团队结果：团队调整知识库检索入口并启动试点。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F08  05_四月治理记录.md  L2  版本ddcc7f81</a:t>
            </a:r>
          </a:p>
          <a:p xmlns:a="http://schemas.openxmlformats.org/drawingml/2006/main">
            <a:r>
              <a:t>F10  06_五月周报.md  L3  版本4c71b260</a:t>
            </a:r>
          </a:p>
          <a:p xmlns:a="http://schemas.openxmlformats.org/drawingml/2006/main">
            <a:r>
              <a:t>F09  05_四月治理记录.md  L3  版本ddcc7f81</a:t>
            </a:r>
          </a:p>
          <a:p xmlns:a="http://schemas.openxmlformats.org/drawingml/2006/main">
            <a:r>
              <a:t>M05  07_六月周报.md  L3  版本0a4b35a4</a:t>
            </a:r>
          </a:p>
          <a:p xmlns:a="http://schemas.openxmlformats.org/drawingml/2006/main">
            <a:r>
              <a:t>M06  10_六月盘点.md  L2  版本c01a61a6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清楚区分本人工作和团队成果。数据不足的事项保留待确认，不补写百分比。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本人工作：我完成渠道数据看板的指标字典和原型评审。</a:t>
            </a:r>
          </a:p>
          <a:p xmlns:a="http://schemas.openxmlformats.org/drawingml/2006/main">
            <a:r>
              <a:t>尚未完成：看板等待研发排期，尚未上线。未计为已交付成果。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F11  06_五月周报.md  L2  版本4c71b260</a:t>
            </a:r>
          </a:p>
          <a:p xmlns:a="http://schemas.openxmlformats.org/drawingml/2006/main">
            <a:r>
              <a:t>F12  07_六月周报.md  L2  版本0a4b35a4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有确认记录才解除冲突。不能因为文件更晚或数字更好看就自动采用。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M02  12_工单指标导出.csv  R2  版本4a171ff3</a:t>
            </a:r>
          </a:p>
          <a:p xmlns:a="http://schemas.openxmlformats.org/drawingml/2006/main">
            <a:r>
              <a:t>M03  12_工单指标导出.csv  R3  版本4a171ff3</a:t>
            </a:r>
          </a:p>
          <a:p xmlns:a="http://schemas.openxmlformats.org/drawingml/2006/main">
            <a:r>
              <a:t>M05  07_六月周报.md  L3  版本0a4b35a4</a:t>
            </a:r>
          </a:p>
          <a:p xmlns:a="http://schemas.openxmlformats.org/drawingml/2006/main">
            <a:r>
              <a:t>M06  10_六月盘点.md  L2  版本c01a61a6</a:t>
            </a:r>
          </a:p>
          <a:p xmlns:a="http://schemas.openxmlformats.org/drawingml/2006/main">
            <a:r>
              <a:t>D01  09_指标负责人确认.md  L2  版本09b72263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按公司提供的考核维度组织工作材料。本示例不代替管理者打分。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平均处理时长出现23与25两个版本。依据确认记录采用25分钟，保留原有记录及决议。</a:t>
            </a:r>
          </a:p>
          <a:p xmlns:a="http://schemas.openxmlformats.org/drawingml/2006/main">
            <a:r>
              <a:t>已审核有效文档数量存在48与60两个版本，尚未核定，正文不采用该数值。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M02  12_工单指标导出.csv  R2  版本4a171ff3</a:t>
            </a:r>
          </a:p>
          <a:p xmlns:a="http://schemas.openxmlformats.org/drawingml/2006/main">
            <a:r>
              <a:t>M03  12_工单指标导出.csv  R3  版本4a171ff3</a:t>
            </a:r>
          </a:p>
          <a:p xmlns:a="http://schemas.openxmlformats.org/drawingml/2006/main">
            <a:r>
              <a:t>M05  07_六月周报.md  L3  版本0a4b35a4</a:t>
            </a:r>
          </a:p>
          <a:p xmlns:a="http://schemas.openxmlformats.org/drawingml/2006/main">
            <a:r>
              <a:t>M06  10_六月盘点.md  L2  版本c01a61a6</a:t>
            </a:r>
          </a:p>
          <a:p xmlns:a="http://schemas.openxmlformats.org/drawingml/2006/main">
            <a:r>
              <a:t>D01  09_指标负责人确认.md  L2  版本09b72263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计划来自所提供的工作记录，尚未完成的任务不作为既有业绩。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下半年推动看板进入研发排期，具体时间与研发负责人确认。</a:t>
            </a:r>
          </a:p>
          <a:p xmlns:a="http://schemas.openxmlformats.org/drawingml/2006/main">
            <a:r>
              <a:t>建立工单指标每月核对机制，并核验知识库有效文档数量。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F13  08_七月计划.md  L2  版本57ce0090</a:t>
            </a:r>
          </a:p>
          <a:p xmlns:a="http://schemas.openxmlformats.org/drawingml/2006/main">
            <a:r>
              <a:t>F14  08_七月计划.md  L3  版本57ce0090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完整引文及原始资料快照保存在配套证据浏览页，所有页面备注包含来源定位。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</a:t>
            </a:r>
          </a:p>
          <a:p xmlns:a="http://schemas.openxmlformats.org/drawingml/2006/main">
            <a:r>
              <a:t>F01  01_年初目标.md  L2  版本fd531346</a:t>
            </a:r>
          </a:p>
          <a:p xmlns:a="http://schemas.openxmlformats.org/drawingml/2006/main">
            <a:r>
              <a:t>F02  02_一月周报.md  L2  版本0762b317</a:t>
            </a:r>
          </a:p>
          <a:p xmlns:a="http://schemas.openxmlformats.org/drawingml/2006/main">
            <a:r>
              <a:t>F02  03_二月周报.md  L2  版本a605d9d9</a:t>
            </a:r>
          </a:p>
          <a:p xmlns:a="http://schemas.openxmlformats.org/drawingml/2006/main">
            <a:r>
              <a:t>F04  03_二月周报.md  L3  版本a605d9d9</a:t>
            </a:r>
          </a:p>
          <a:p xmlns:a="http://schemas.openxmlformats.org/drawingml/2006/main">
            <a:r>
              <a:t>F05  04_三月上线复盘.md  L2  版本b09935a7</a:t>
            </a:r>
          </a:p>
          <a:p xmlns:a="http://schemas.openxmlformats.org/drawingml/2006/main">
            <a:r>
              <a:t>F06  04_三月上线复盘.md  L3  版本b09935a7</a:t>
            </a:r>
          </a:p>
          <a:p xmlns:a="http://schemas.openxmlformats.org/drawingml/2006/main">
            <a:r>
              <a:t>F08  05_四月治理记录.md  L2  版本ddcc7f81</a:t>
            </a:r>
          </a:p>
          <a:p xmlns:a="http://schemas.openxmlformats.org/drawingml/2006/main">
            <a:r>
              <a:t>F09  05_四月治理记录.md  L3  版本ddcc7f81</a:t>
            </a:r>
          </a:p>
          <a:p xmlns:a="http://schemas.openxmlformats.org/drawingml/2006/main">
            <a:r>
              <a:t>F10  06_五月周报.md  L3  版本4c71b260</a:t>
            </a:r>
          </a:p>
          <a:p xmlns:a="http://schemas.openxmlformats.org/drawingml/2006/main">
            <a:r>
              <a:t>F11  06_五月周报.md  L2  版本4c71b260</a:t>
            </a:r>
          </a:p>
          <a:p xmlns:a="http://schemas.openxmlformats.org/drawingml/2006/main">
            <a:r>
              <a:t>F12  07_六月周报.md  L2  版本0a4b35a4</a:t>
            </a:r>
          </a:p>
          <a:p xmlns:a="http://schemas.openxmlformats.org/drawingml/2006/main">
            <a:r>
              <a:t>F13  08_七月计划.md  L2  版本57ce0090</a:t>
            </a:r>
          </a:p>
          <a:p xmlns:a="http://schemas.openxmlformats.org/drawingml/2006/main">
            <a:r>
              <a:t>F14  08_七月计划.md  L3  版本57ce0090</a:t>
            </a:r>
          </a:p>
          <a:p xmlns:a="http://schemas.openxmlformats.org/drawingml/2006/main">
            <a:r>
              <a:t>M01  02_一月周报.md  L3  版本0762b317</a:t>
            </a:r>
          </a:p>
          <a:p xmlns:a="http://schemas.openxmlformats.org/drawingml/2006/main">
            <a:r>
              <a:t>M02  12_工单指标导出.csv  R2  版本4a171ff3</a:t>
            </a:r>
          </a:p>
          <a:p xmlns:a="http://schemas.openxmlformats.org/drawingml/2006/main">
            <a:r>
              <a:t>M03  12_工单指标导出.csv  R3  版本4a171ff3</a:t>
            </a:r>
          </a:p>
          <a:p xmlns:a="http://schemas.openxmlformats.org/drawingml/2006/main">
            <a:r>
              <a:t>M04  04_三月上线复盘.md  L4  版本b09935a7</a:t>
            </a:r>
          </a:p>
          <a:p xmlns:a="http://schemas.openxmlformats.org/drawingml/2006/main">
            <a:r>
              <a:t>M05  07_六月周报.md  L3  版本0a4b35a4</a:t>
            </a:r>
          </a:p>
          <a:p xmlns:a="http://schemas.openxmlformats.org/drawingml/2006/main">
            <a:r>
              <a:t>M06  10_六月盘点.md  L2  版本c01a61a6</a:t>
            </a:r>
          </a:p>
          <a:p xmlns:a="http://schemas.openxmlformats.org/drawingml/2006/main">
            <a:r>
              <a:t>D01  09_指标负责人确认.md  L2  版本09b72263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f06b9ff6349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a83a9029549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86ab2db5b4b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f2c20c0fb4f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0a5a5e4264c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c1e460c0f48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CAC2ED-38C3-4841-AABF-A4BAF36087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8038C1-BF2F-414A-B924-EF7163629E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8A1672-8ABD-47C8-A9F4-AC87E9399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D8B666-01CB-411B-8F1F-9912BE5553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9F12752-155D-449B-99ED-ED93D0FD51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0055BD-BB5D-4772-9B4A-86EF2724FF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EBE7F1-FA65-49BE-8454-E132BE7F63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43DE34-97E9-4DAE-9141-BB4A193445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F057B9-BF07-44C6-83E5-7C3272FBA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6937AD-E086-4874-A1E6-972C7E57E0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a6491aa2b5467c" /><Relationship Type="http://schemas.openxmlformats.org/officeDocument/2006/relationships/slideLayout" Target="/ppt/slideLayouts/slideLayout1.xml" Id="Rd8a6b62ff3e34b57" /><Relationship Type="http://schemas.openxmlformats.org/officeDocument/2006/relationships/slideLayout" Target="/ppt/slideLayouts/slideLayout2.xml" Id="R68df39383d654d15" /><Relationship Type="http://schemas.openxmlformats.org/officeDocument/2006/relationships/slideLayout" Target="/ppt/slideLayouts/slideLayout3.xml" Id="Rb93a835f7744416f" /><Relationship Type="http://schemas.openxmlformats.org/officeDocument/2006/relationships/slideLayout" Target="/ppt/slideLayouts/slideLayout4.xml" Id="Rd2c804d321c2417c" /><Relationship Type="http://schemas.openxmlformats.org/officeDocument/2006/relationships/slideLayout" Target="/ppt/slideLayouts/slideLayout5.xml" Id="R22ade9c0601e4f3e" /><Relationship Type="http://schemas.openxmlformats.org/officeDocument/2006/relationships/slideLayout" Target="/ppt/slideLayouts/slideLayout6.xml" Id="R51b75f720e174f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a6b62ff3e34b57"/>
    <p:sldLayoutId xmlns:r="http://schemas.openxmlformats.org/officeDocument/2006/relationships" id="2147483650" r:id="R68df39383d654d15"/>
    <p:sldLayoutId xmlns:r="http://schemas.openxmlformats.org/officeDocument/2006/relationships" id="2147483651" r:id="Rb93a835f7744416f"/>
    <p:sldLayoutId xmlns:r="http://schemas.openxmlformats.org/officeDocument/2006/relationships" id="2147483652" r:id="Rd2c804d321c2417c"/>
    <p:sldLayoutId xmlns:r="http://schemas.openxmlformats.org/officeDocument/2006/relationships" id="2147483653" r:id="R22ade9c0601e4f3e"/>
    <p:sldLayoutId xmlns:r="http://schemas.openxmlformats.org/officeDocument/2006/relationships" id="2147483654" r:id="R51b75f720e174f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9cd80d3aa74e6e" /><Relationship Type="http://schemas.openxmlformats.org/officeDocument/2006/relationships/notesSlide" Target="/ppt/notesSlides/notesSlide1.xml" Id="R46c8e4a6711840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214d6676c487e" /><Relationship Type="http://schemas.openxmlformats.org/officeDocument/2006/relationships/notesSlide" Target="/ppt/notesSlides/notesSlide2.xml" Id="R0b833d10acba4e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059b81333455b" /><Relationship Type="http://schemas.openxmlformats.org/officeDocument/2006/relationships/notesSlide" Target="/ppt/notesSlides/notesSlide3.xml" Id="Rd083c60cf65f4f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ee8d321214a78" /><Relationship Type="http://schemas.openxmlformats.org/officeDocument/2006/relationships/chart" Target="/ppt/slides/charts/chart1.xml" Id="R93cbb208398c42f4" /><Relationship Type="http://schemas.openxmlformats.org/officeDocument/2006/relationships/notesSlide" Target="/ppt/notesSlides/notesSlide4.xml" Id="R52d0ea171ade4b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ab04251a846d5" /><Relationship Type="http://schemas.openxmlformats.org/officeDocument/2006/relationships/notesSlide" Target="/ppt/notesSlides/notesSlide5.xml" Id="Rc511d2cb171f45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1f74a3e2b418a" /><Relationship Type="http://schemas.openxmlformats.org/officeDocument/2006/relationships/notesSlide" Target="/ppt/notesSlides/notesSlide6.xml" Id="R84d5a9226b3b48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45bc5bfb24eae" /><Relationship Type="http://schemas.openxmlformats.org/officeDocument/2006/relationships/notesSlide" Target="/ppt/notesSlides/notesSlide7.xml" Id="R280140fd46eb41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c9573a2a24e49" /><Relationship Type="http://schemas.openxmlformats.org/officeDocument/2006/relationships/notesSlide" Target="/ppt/notesSlides/notesSlide8.xml" Id="R3ff4ca4f5aa74f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63caa464c4541" /><Relationship Type="http://schemas.openxmlformats.org/officeDocument/2006/relationships/notesSlide" Target="/ppt/notesSlides/notesSlide9.xml" Id="R9d00eb7f29b64b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bfcc751884a72" /><Relationship Type="http://schemas.openxmlformats.org/officeDocument/2006/relationships/notesSlide" Target="/ppt/notesSlides/notesSlide10.xml" Id="R9e865f710c7b4e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b6598c59d43eb" /><Relationship Type="http://schemas.openxmlformats.org/officeDocument/2006/relationships/notesSlide" Target="/ppt/notesSlides/notesSlide11.xml" Id="Ra098d2cd72324e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分钟</c:v>
          </c:tx>
          <c:spPr>
            <a:solidFill xmlns:a="http://schemas.openxmlformats.org/drawingml/2006/main">
              <a:srgbClr val="236B9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基线</c:v>
                </c:pt>
                <c:pt idx="1">
                  <c:v>观察结果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40</c:v>
                </c:pt>
                <c:pt idx="1">
                  <c:v>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EE5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307DE03-4D53-4391-B1CF-C0C860F9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个人工作述职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F3BD30-E214-45EE-A7D9-5103B6F1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2026年上半年工作汇报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2203FC0-24C7-4586-B837-DEA28744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林知夏  产品经理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50CF792-4781-4974-8525-49814354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2026-01-01 至 2026-06-30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模拟案例。人物、项目和全部业务数据均为虚构，用于检验成果归因、冲突处理和证据追溯。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03C260E-F051-41FD-97E6-DC2202E9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26149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D69BC22-F30A-4414-BBAA-20FEB5CE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02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221690-27F2-4F94-8A5E-6DE9C4CD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阶段工作概览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30675-FFEF-46AE-A4B4-DEFCD64BABE4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191250"/>
                <a:gridCol w="2190750"/>
              </a:tblGrid>
              <a:tr h="7239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本人工作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</a:tr>
              <a:tr h="7239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售后工单改版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我负责需求梳理和业务验收，周岚负责项目整体推进；我完成需求说明与异常流程清单；我组织业务验收用例评审并完成问题归类；我完成业务验收并整理上线问题清单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已有阶段交付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知识库治理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我完成分类方案与审核规范，组织试点部门评审；我完成试点反馈归类并输出维护责任清单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已有阶段交付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7239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渠道数据看板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我完成渠道数据看板的指标字典和原型评审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存在未完成事项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384CE91-1F48-4B51-B59B-A67E7593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F02  02_一月周报.md  L2  版本0762b317；F02  03_二月周报.md  L2  版本a605d9d9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A32AA05-BDF1-4E7F-8520-23ABDA7B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0331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1D038D9-631B-4D45-8EB8-FA0605EE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03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96630A-1DC7-459E-899B-2A9A46CD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售后工单改版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C1DB13C-F0ED-42B0-96B1-28B04571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7156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本人工作：我负责需求梳理和业务验收，周岚负责项目整体推进；我完成需求说明与异常流程清单；我组织业务验收用例评审并完成问题归类；我完成业务验收并整理上线问题清单。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436A5FD-2A38-4B01-88BA-7D29A1A7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团队结果：团队完成售后工单改版上线。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C163567-2CE7-4B12-9F91-9C31382D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F01  01_年初目标.md  L2  版本fd531346；F02  02_一月周报.md  L2  版本0762b317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286C0B28-7E8F-4D05-83DB-989E520B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1209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C60FDEA1-E487-4227-BC8C-45F8C1B9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04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1EB2D6-5EE8-45D0-94DF-E061258F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平均处理时长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DBACE81-8FD6-476B-968F-526685A4E535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cbb208398c42f4"/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70C5EAB-D843-415A-93E9-460E16EE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单位 分钟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47571CB-E38F-4AC7-9A71-6FF69828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860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40 分钟降至 25 分钟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595E450-3561-4BD3-8EE4-69E4BA14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较基线下降 37.5%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32FABDC-DCBE-4CCA-A125-1E1D7A88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5762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统计范围</a:t>
            </a:r>
          </a:p>
          <a:p xmlns:a="http://schemas.openxmlformats.org/drawingml/2006/main">
            <a:pPr>
              <a:def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全量已结售后工单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16DF29F-7A8F-436B-A97F-40143113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00625"/>
            <a:ext cx="3476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基线 2026-01-01至2026-01-31</a:t>
            </a:r>
          </a:p>
          <a:p xmlns:a="http://schemas.openxmlformats.org/drawingml/2006/main">
            <a:pPr>
              <a:def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观察 2026-04-01至2026-06-30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F343BB3-1142-4F47-AD8D-92523E56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M01  02_一月周报.md  L3  版本0762b317；M03  12_工单指标导出.csv  R3  版本4a171ff3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6F390F2-F28B-4561-A8AE-DC85308E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617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96C9764-AB42-445D-ADC8-B716530F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05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4B544E1-894C-4710-B0D3-020B0326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知识库治理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C747639-B6FB-45A7-B259-FB2D6FF7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本人工作：我完成分类方案与审核规范，组织试点部门评审；我完成试点反馈归类并输出维护责任清单。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7847DFC-D1B7-430E-AD8C-B45C07C4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团队结果：团队调整知识库检索入口并启动试点。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D1D9ACC-EF72-4C0C-917B-D3AF91DA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F08  05_四月治理记录.md  L2  版本ddcc7f81；F10  06_五月周报.md  L3  版本4c71b260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29FBF43-9E10-44F0-A1D5-8DE80FF2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13741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272A664-7CD4-408F-83A6-A8CEDC9A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06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E19ACC-46F7-4DC1-9029-942655D7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渠道数据看板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9CD47B2-B443-4E6D-901C-27FD53F8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本人工作：我完成渠道数据看板的指标字典和原型评审。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5493FD1-9ACD-4771-B2B6-6B4C70F2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尚未完成：看板等待研发排期，尚未上线。未计为已交付成果。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02B8847-15ED-4A28-8705-6658801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F11  06_五月周报.md  L2  版本4c71b260；F12  07_六月周报.md  L2  版本0a4b35a4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C05D881-A707-4D8B-8EE7-F87939A5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50089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6F6FC16-3539-4FB0-8CBE-814D7BC0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07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A00ED1-2696-42EF-8ABB-1394CDC3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数据冲突与采用口径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CC2CC-4A95-40B4-9162-368D7129AD1F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048000"/>
                <a:gridCol w="4762500"/>
              </a:tblGrid>
              <a:tr h="7937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出现的版本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</a:tr>
              <a:tr h="7937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平均处理时长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23分钟 / 25分钟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确认采用25分钟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已审核有效文档数量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48篇 / 60篇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尚未核定，量化成果暂不采用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B9350E4-BD0B-4A34-B541-7B4A101D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M02  12_工单指标导出.csv  R2  版本4a171ff3；M03  12_工单指标导出.csv  R3  版本4a171ff3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9D5382C-8090-4D98-9ED7-8908CA24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28576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B4D0FB1-2CD7-4681-B344-0253A293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08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DB5B74-0690-4425-BFBA-88933E6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考核维度对应工作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09EB0-A60A-4DBC-893C-A3E7992F7697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01000"/>
              </a:tblGrid>
              <a:tr h="7239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考核维度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</a:tr>
              <a:tr h="7239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业务结果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售后工单改版、渠道数据看板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跨团队协作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售后工单改版、知识库治理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72390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专业能力与复用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知识库治理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EA63048-CE81-436C-974E-5CDCA355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BA239D4-FADC-4F81-9B5A-5ADE5AC6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9060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DB1FA37-D516-4BCF-86D3-8245DBA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09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2C0895-BA68-45A4-8C29-631C0B1F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工作复盘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F9AE4A4-C38A-4D31-AAFC-5228ADC3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平均处理时长出现23与25两个版本。依据确认记录采用25分钟，保留原有记录及决议。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46F5B9-8EB1-45D2-AE5A-19AE31DB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已审核有效文档数量存在48与60两个版本，尚未核定，正文不采用该数值。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F1BF2E5-FCC7-474C-BC00-545A8DC6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M02  12_工单指标导出.csv  R2  版本4a171ff3；M03  12_工单指标导出.csv  R3  版本4a171ff3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6DB1B87-2475-4B1B-BCE8-4B41A84D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68769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D463223-B53E-4453-9241-2DB91F18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10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FBD673-C1A5-4AF7-BA95-C3880C2C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下半年工作计划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09AAD4AA-2DD7-497D-ADA2-E1310439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下半年推动看板进入研发排期，具体时间与研发负责人确认。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4AD7570-5664-4F7F-877A-0176D9A7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建立工单指标每月核对机制，并核验知识库有效文档数量。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99ED3CE-7ACB-4EEF-A821-57DFFB0D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F13  08_七月计划.md  L2  版本57ce0090；F14  08_七月计划.md  L3  版本57ce0090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FE39102-07B9-41ED-A788-1BF8167D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64608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502B533-FEAF-4F13-8649-EC8708A8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11  模拟案例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C329A5-43C6-434E-8F62-FF5985F3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72F44"/>
                </a:solidFill>
                <a:latin typeface="PingFang SC"/>
                <a:ea typeface="PingFang SC"/>
                <a:cs typeface="PingFang SC"/>
              </a:rPr>
              <a:t>关键成果证据索引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FBA13-771D-4517-8067-00A3D4B419B8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5850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72500"/>
              </a:tblGrid>
              <a:tr h="69056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成果记录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资料与定位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E7EDF2"/>
                    </a:solidFill>
                  </a:tcPr>
                </a:tc>
              </a:tr>
              <a:tr h="69056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F01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01_年初目标.md L2 fd531346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F05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04_三月上线复盘.md L2 b09935a7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69056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F08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05_四月治理记录.md L2 ddcc7f81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F09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05_四月治理记录.md L3 ddcc7f81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690563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72F4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06_五月周报.md L2 4c71b260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4EC55BC-D575-456D-9FF0-FFF0EC9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57925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F01  01_年初目标.md  L2  版本fd531346；F02  02_一月周报.md  L2  版本0762b317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25D9A29-8E86-40CD-8325-E88559F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66779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13319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2026-10-30T09:46:53.5380000Z</dcterms:created>
  <dcterms:modified xsi:type="dcterms:W3CDTF">2026-10-30T09:46:53.5380000Z</dcterms:modified>
</coreProperties>
</file>